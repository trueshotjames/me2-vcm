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9"/>
  </p:sldIdLst>
  <p:sldSz cx="9601200" cy="6858000"/>
  <p:notesSz cx="68580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3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183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github.com/trueshotjames/me2-vcm README §3, §5, §7 and benchmark run 20261017-015001. Live Pi accuracy covers wake word + VCM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github.com/trueshotjames/me2-vcm README §3, §5, §8; data and logs on Hugging Face trueshotjames/ai231-king-me2 (v1.0). Wake latency was not measured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9052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 — “Alexa” Voice Command Model (VCM)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85800"/>
            <a:ext cx="9052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speech-to-intent on the edge · no cloud round-trip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978408"/>
            <a:ext cx="9052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October 2026 · King James Villasin · AI 231 MLOps, UP · Model · Dataset · Training on A100 · Validation on RPi 4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6510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 /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250299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20040" y="1579483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E9EFF8"/>
          </a:solidFill>
          <a:ln w="15875">
            <a:solidFill>
              <a:srgbClr val="9DB0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0040" y="1579483"/>
            <a:ext cx="4434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· 16 kHz → log-Mel 40 × ≤500 frames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63531"/>
            <a:ext cx="4434840" cy="475488"/>
          </a:xfrm>
          <a:prstGeom prst="roundRect">
            <a:avLst>
              <a:gd name="adj" fmla="val 11538"/>
            </a:avLst>
          </a:prstGeom>
          <a:solidFill>
            <a:srgbClr val="E4F3E7"/>
          </a:solidFill>
          <a:ln w="15875">
            <a:solidFill>
              <a:srgbClr val="7FBF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20040" y="1963531"/>
            <a:ext cx="44348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DS-CNN encoder × 5 res blocks · 256-dim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4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· 40 ms steps · ~1.9 s receptive field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93509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FCEBD5"/>
          </a:solidFill>
          <a:ln w="15875">
            <a:solidFill>
              <a:srgbClr val="E3A8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20040" y="2493509"/>
            <a:ext cx="4434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4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CTC head · 120 tokens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77210" y="2866738"/>
            <a:ext cx="3186880" cy="310896"/>
          </a:xfrm>
          <a:prstGeom prst="roundRect">
            <a:avLst>
              <a:gd name="adj" fmla="val 17647"/>
            </a:avLst>
          </a:prstGeom>
          <a:solidFill>
            <a:srgbClr val="FCEBD5"/>
          </a:solidFill>
          <a:ln w="15875">
            <a:solidFill>
              <a:srgbClr val="E3A8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93235" y="2866738"/>
            <a:ext cx="335483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4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(beam search) → intent + slot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262353"/>
            <a:ext cx="2171700" cy="567682"/>
          </a:xfrm>
          <a:prstGeom prst="roundRect">
            <a:avLst>
              <a:gd name="adj" fmla="val 17647"/>
            </a:avLst>
          </a:prstGeom>
          <a:solidFill>
            <a:srgbClr val="E8E4F6"/>
          </a:solidFill>
          <a:ln w="15875">
            <a:solidFill>
              <a:srgbClr val="9C8FD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320040" y="3262353"/>
            <a:ext cx="2171700" cy="56768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Actuator · web dashboard</a:t>
            </a:r>
          </a:p>
          <a:p>
            <a:pPr algn="ctr"/>
            <a:r>
              <a:rPr lang="en-US" sz="1200" b="1" dirty="0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200" b="1" dirty="0" err="1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Onikuma</a:t>
            </a:r>
            <a:r>
              <a:rPr lang="en-US" sz="1200" b="1" dirty="0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microphone · </a:t>
            </a:r>
            <a:r>
              <a:rPr lang="en-US" sz="1200" b="1" dirty="0" err="1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Tronsmart</a:t>
            </a:r>
            <a:r>
              <a:rPr lang="en-US" sz="1200" b="1" dirty="0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Halo 200 speaker</a:t>
            </a:r>
          </a:p>
        </p:txBody>
      </p:sp>
      <p:sp>
        <p:nvSpPr>
          <p:cNvPr id="17" name="Shape 15"/>
          <p:cNvSpPr/>
          <p:nvPr/>
        </p:nvSpPr>
        <p:spPr>
          <a:xfrm>
            <a:off x="2583180" y="3260114"/>
            <a:ext cx="2171700" cy="310896"/>
          </a:xfrm>
          <a:prstGeom prst="roundRect">
            <a:avLst>
              <a:gd name="adj" fmla="val 17647"/>
            </a:avLst>
          </a:prstGeom>
          <a:solidFill>
            <a:srgbClr val="EFF8E4"/>
          </a:solidFill>
          <a:ln w="15875">
            <a:solidFill>
              <a:srgbClr val="7DBF3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2583180" y="3260114"/>
            <a:ext cx="21717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071494"/>
              </p:ext>
            </p:extLst>
          </p:nvPr>
        </p:nvGraphicFramePr>
        <p:xfrm>
          <a:off x="320040" y="3857280"/>
          <a:ext cx="4434840" cy="49377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 / weights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951,672 (0.95 M) · 3.8 MB fp32 ONNX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274320" y="4384643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on the Raspberry Pi 4</a:t>
            </a:r>
            <a:endParaRPr lang="en-US" sz="15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748756"/>
              </p:ext>
            </p:extLst>
          </p:nvPr>
        </p:nvGraphicFramePr>
        <p:xfrm>
          <a:off x="320040" y="4713827"/>
          <a:ext cx="4434840" cy="172821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/ intent acc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82.7 % (167/202) / </a:t>
                      </a: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73.3 % (148/202)</a:t>
                      </a:r>
                      <a:endParaRPr lang="en-US" sz="105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False-accept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12.5 % (2 / 16 out-of-scope clips)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p50 / p95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 ms / 1,193 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RTF p50 / p95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0.0066 / 0.012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VCM inference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 ms mean · 16.0 ms p95 per 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onnxruntime 1.21 · CPU · 4 threads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320040" y="6496907"/>
            <a:ext cx="4434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over-the-air run on the 202-clip ME2 holdout (+16 without wake word).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1371600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50" dirty="0"/>
          </a:p>
        </p:txBody>
      </p:sp>
      <p:graphicFrame>
        <p:nvGraphicFramePr>
          <p:cNvPr id="2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523161"/>
              </p:ext>
            </p:extLst>
          </p:nvPr>
        </p:nvGraphicFramePr>
        <p:xfrm>
          <a:off x="4983480" y="1700784"/>
          <a:ext cx="4297680" cy="145389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AI231 ME2 Voice Commands + PLD (English) + Common Voice (Asian-accented)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utts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21.9 / 9.4 · 46,436 / 19,986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Speakers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and real voices, 70 / 30 split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intents + out-of-scope · 93 commands ·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118-word vocab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0"/>
          <p:cNvSpPr txBox="1"/>
          <p:nvPr/>
        </p:nvSpPr>
        <p:spPr>
          <a:xfrm>
            <a:off x="4937760" y="326739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the A100 cluster</a:t>
            </a:r>
            <a:endParaRPr lang="en-US" sz="1550" dirty="0"/>
          </a:p>
        </p:txBody>
      </p:sp>
      <p:graphicFrame>
        <p:nvGraphicFramePr>
          <p:cNvPr id="26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446103"/>
              </p:ext>
            </p:extLst>
          </p:nvPr>
        </p:nvGraphicFramePr>
        <p:xfrm>
          <a:off x="4983480" y="3596578"/>
          <a:ext cx="4297680" cy="148132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A100-SXM4-40GB · DDP · bf16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CTC (blank = token 119)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AdamW · lr 2.83e-3 · one-cycle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 / F1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309 of 459 · token F1 0.894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Wall-clock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 h 51 min (~3.5 A100-hours)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Breakdown header">
            <a:extLst>
              <a:ext uri="{FF2B5EF4-FFF2-40B4-BE49-F238E27FC236}">
                <a16:creationId xmlns:a16="http://schemas.microsoft.com/office/drawing/2014/main" id="{4353602B-6068-0C2B-B97F-0FBAD4D67520}"/>
              </a:ext>
            </a:extLst>
          </p:cNvPr>
          <p:cNvSpPr txBox="1"/>
          <p:nvPr/>
        </p:nvSpPr>
        <p:spPr>
          <a:xfrm>
            <a:off x="4937760" y="5139738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word vs VCM</a:t>
            </a:r>
            <a:endParaRPr lang="en-US" sz="1550" dirty="0"/>
          </a:p>
        </p:txBody>
      </p:sp>
      <p:graphicFrame>
        <p:nvGraphicFramePr>
          <p:cNvPr id="30" name="Table 1">
            <a:extLst>
              <a:ext uri="{FF2B5EF4-FFF2-40B4-BE49-F238E27FC236}">
                <a16:creationId xmlns:a16="http://schemas.microsoft.com/office/drawing/2014/main" id="{10D14BE9-0AA2-FA51-9672-988BDE275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95844"/>
              </p:ext>
            </p:extLst>
          </p:nvPr>
        </p:nvGraphicFramePr>
        <p:xfrm>
          <a:off x="4846322" y="5454491"/>
          <a:ext cx="4434839" cy="987552"/>
        </p:xfrm>
        <a:graphic>
          <a:graphicData uri="http://schemas.openxmlformats.org/drawingml/2006/table">
            <a:tbl>
              <a:tblPr/>
              <a:tblGrid>
                <a:gridCol w="97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850">
                  <a:extLst>
                    <a:ext uri="{9D8B030D-6E8A-4147-A177-3AD203B41FA5}">
                      <a16:colId xmlns:a16="http://schemas.microsoft.com/office/drawing/2014/main" val="1145259651"/>
                    </a:ext>
                  </a:extLst>
                </a:gridCol>
                <a:gridCol w="1338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Arial" charset="0"/>
                          <a:ea typeface="Arial" charset="0"/>
                          <a:cs typeface="Arial" charset="0"/>
                        </a:rPr>
                        <a:t>Accuracy (Live on Pi)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Lost Trials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Wake Word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Arial" charset="0"/>
                          <a:ea typeface="Arial" charset="0"/>
                          <a:cs typeface="Arial" charset="0"/>
                        </a:rPr>
                        <a:t>82.7% (167/202)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latin typeface="Arial" charset="0"/>
                          <a:ea typeface="Arial" charset="0"/>
                          <a:cs typeface="Arial" charset="0"/>
                        </a:rPr>
                        <a:t>86.2% (144/167)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Wake + VCM</a:t>
                      </a:r>
                      <a:endParaRPr lang="en-US" sz="105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latin typeface="Arial" charset="0"/>
                          <a:ea typeface="Arial" charset="0"/>
                          <a:cs typeface="Arial" charset="0"/>
                        </a:rPr>
                        <a:t>73.3% (148/202)</a:t>
                      </a: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9052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ME2 — Wake Word Model (“Alexa”)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85800"/>
            <a:ext cx="9052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keyword spotting on the edge · no cloud round-trip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978408"/>
            <a:ext cx="9052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October 2026 · King James Villasin · AI 231 MLOps, UP · Model · Dataset · Training on A100 · Validation on RPi 4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65105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 /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371600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20040" y="1700784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E9EFF8"/>
          </a:solidFill>
          <a:ln w="15875">
            <a:solidFill>
              <a:srgbClr val="9DB0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0040" y="1700784"/>
            <a:ext cx="4434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· 48 → 16 kHz · raw waveform 1.5 s (24,000 samples)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4434840" cy="475488"/>
          </a:xfrm>
          <a:prstGeom prst="roundRect">
            <a:avLst>
              <a:gd name="adj" fmla="val 11538"/>
            </a:avLst>
          </a:prstGeom>
          <a:solidFill>
            <a:srgbClr val="E4F3E7"/>
          </a:solidFill>
          <a:ln w="15875">
            <a:solidFill>
              <a:srgbClr val="7FBF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20040" y="2084832"/>
            <a:ext cx="44348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conv front end + 3 DS-conv blocks · 128-dim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4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the latest 1.5 s every 0.2 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633472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FCEBD5"/>
          </a:solidFill>
          <a:ln w="15875">
            <a:solidFill>
              <a:srgbClr val="E3A85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20040" y="2633472"/>
            <a:ext cx="44348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4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head · sigmoid, threshold 0.5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2171700" cy="310896"/>
          </a:xfrm>
          <a:prstGeom prst="roundRect">
            <a:avLst>
              <a:gd name="adj" fmla="val 17647"/>
            </a:avLst>
          </a:prstGeom>
          <a:solidFill>
            <a:srgbClr val="E8E4F6"/>
          </a:solidFill>
          <a:ln w="15875">
            <a:solidFill>
              <a:srgbClr val="9C8F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20040" y="3017520"/>
            <a:ext cx="21717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2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the VCM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83180" y="3017520"/>
            <a:ext cx="2171700" cy="310896"/>
          </a:xfrm>
          <a:prstGeom prst="roundRect">
            <a:avLst>
              <a:gd name="adj" fmla="val 17647"/>
            </a:avLst>
          </a:prstGeom>
          <a:solidFill>
            <a:srgbClr val="EFF8E4"/>
          </a:solidFill>
          <a:ln w="15875">
            <a:solidFill>
              <a:srgbClr val="7DBF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583180" y="3017520"/>
            <a:ext cx="21717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74720"/>
          <a:ext cx="4434840" cy="49377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 / weights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33,613 (33.6 k) · 57 KB int8 ONNX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274320" y="4151376"/>
            <a:ext cx="44348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on the Raspberry Pi 4</a:t>
            </a:r>
            <a:endParaRPr lang="en-US" sz="15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480560"/>
          <a:ext cx="4434840" cy="98755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acc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82.7 % (167 / 202 trials)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False-accept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31.2 % (5 / 16 trials without wake word)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onnxruntime 1.21 · CPU · int8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320040" y="5522976"/>
            <a:ext cx="4434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A6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live run: one recorded “Alexa” take before each ME2 holdout clip, plus 16 commands without it.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937760" y="1371600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700784"/>
          <a:ext cx="4297680" cy="134416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SynTTS-Commands (“Alexa” + 15 other commands) + Speech Noise Dataset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/ utts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 / 1.14 h · 13,796 / 3,449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Speakers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CosyVoice 2 clones of VoxCeleb voices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classes · wake / not wake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18"/>
          <p:cNvSpPr txBox="1"/>
          <p:nvPr/>
        </p:nvSpPr>
        <p:spPr>
          <a:xfrm>
            <a:off x="4937760" y="3118104"/>
            <a:ext cx="4297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5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on the A100 cluster</a:t>
            </a:r>
            <a:endParaRPr lang="en-US" sz="1550" dirty="0"/>
          </a:p>
        </p:txBody>
      </p:sp>
      <p:graphicFrame>
        <p:nvGraphicFramePr>
          <p:cNvPr id="2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3447288"/>
          <a:ext cx="4297680" cy="148132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A100-SXM4-40GB · DDP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cross-entropy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AdamW · lr 2.83e-3 · one-cycle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 / F1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130 of 180 · val F1 0.984 (acc 0.987)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Wall-clock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 min 41 s (preprocess 15 s, train 86 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18288" marB="18288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0" name=""/>
        <p:cNvGrpSpPr/>
        <p:nvPr/>
      </p:nvGrpSpPr>
      <p:grpSpPr/>
      <p:sp>
        <p:nvSpPr>
          <p:cNvPr id="101" name="Title"/>
          <p:cNvSpPr txBox="1"/>
          <p:nvPr/>
        </p:nvSpPr>
        <p:spPr>
          <a:xfrm>
            <a:off x="274320" y="182880"/>
            <a:ext cx="90525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>
                <a:solidFill>
                  <a:srgbClr val="111111"/>
                </a:solidFill>
                <a:latin typeface="Arial"/>
              </a:rPr>
              <a:t>To Be Submitted</a:t>
            </a:r>
          </a:p>
        </p:txBody>
      </p:sp>
      <p:cxnSp>
        <p:nvCxnSpPr>
          <p:cNvPr id="102" name="Title rule"/>
          <p:cNvCxnSpPr/>
          <p:nvPr/>
        </p:nvCxnSpPr>
        <p:spPr>
          <a:xfrm>
            <a:off x="320040" y="749808"/>
            <a:ext cx="8961120" cy="0"/>
          </a:xfrm>
          <a:prstGeom prst="line">
            <a:avLst/>
          </a:prstGeom>
          <a:ln w="28575">
            <a:solidFill>
              <a:srgbClr val="7CB3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3" name="Submission details"/>
          <p:cNvGraphicFramePr>
            <a:graphicFrameLocks noGrp="1"/>
          </p:cNvGraphicFramePr>
          <p:nvPr/>
        </p:nvGraphicFramePr>
        <p:xfrm>
          <a:off x="320040" y="960120"/>
          <a:ext cx="8961120" cy="182880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69494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B3F08"/>
                          </a:solidFill>
                          <a:latin typeface="Arial"/>
                        </a:rPr>
                        <a:t>GitHub repository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CBB5"/>
                      </a:solidFill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3F08"/>
                          </a:solidFill>
                          <a:latin typeface="Arial"/>
                        </a:rPr>
                        <a:t>github.com/trueshotjames/me2-vcm · public · MIT licence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CB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B3F08"/>
                          </a:solidFill>
                          <a:latin typeface="Arial"/>
                        </a:rPr>
                        <a:t>Dataset location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CBB5"/>
                      </a:solidFill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3F08"/>
                          </a:solidFill>
                          <a:latin typeface="Arial"/>
                        </a:rPr>
                        <a:t>Hugging Face trueshotjames/ai231-king-me2 (tag v1.0) · DOI 10.57967/hf/10994 · CC BY-NC 4.0; third-party clips keep their own terms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CB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B3F08"/>
                          </a:solidFill>
                          <a:latin typeface="Arial"/>
                        </a:rPr>
                        <a:t>A100 cluster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CBB5"/>
                      </a:solidFill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3F08"/>
                          </a:solidFill>
                          <a:latin typeface="Arial"/>
                        </a:rPr>
                        <a:t>Node ai-n002 · 2 × A100-SXM4-40GB · VCM ~1 h 51 min, wake ~1 min 41 s · seed 1234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solidFill>
                        <a:srgbClr val="D9CB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B3F08"/>
                          </a:solidFill>
                          <a:latin typeface="Arial"/>
                        </a:rPr>
                        <a:t>Model weights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BEB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3F08"/>
                          </a:solidFill>
                          <a:latin typeface="Arial"/>
                        </a:rPr>
                        <a:t>GitHub releases v0.1-vcm (VCM) and v1.0 (wake): ONNX + PyTorch · CC BY-NC 4.0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Submission box border"/>
          <p:cNvSpPr/>
          <p:nvPr/>
        </p:nvSpPr>
        <p:spPr>
          <a:xfrm>
            <a:off x="320040" y="960120"/>
            <a:ext cx="8961120" cy="1828800"/>
          </a:xfrm>
          <a:prstGeom prst="roundRect">
            <a:avLst>
              <a:gd name="adj" fmla="val 3000"/>
            </a:avLst>
          </a:prstGeom>
          <a:noFill/>
          <a:ln w="25400">
            <a:solidFill>
              <a:srgbClr val="D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ecklist header"/>
          <p:cNvSpPr txBox="1"/>
          <p:nvPr/>
        </p:nvSpPr>
        <p:spPr>
          <a:xfrm>
            <a:off x="274320" y="2971800"/>
            <a:ext cx="90525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50" b="1">
                <a:solidFill>
                  <a:srgbClr val="2453D6"/>
                </a:solidFill>
                <a:latin typeface="Arial"/>
              </a:rPr>
              <a:t>What the reviewer will look for</a:t>
            </a:r>
          </a:p>
        </p:txBody>
      </p:sp>
      <p:graphicFrame>
        <p:nvGraphicFramePr>
          <p:cNvPr id="106" name="Reviewer checklist"/>
          <p:cNvGraphicFramePr>
            <a:graphicFrameLocks noGrp="1"/>
          </p:cNvGraphicFramePr>
          <p:nvPr/>
        </p:nvGraphicFramePr>
        <p:xfrm>
          <a:off x="320040" y="3310128"/>
          <a:ext cx="8961120" cy="2112264"/>
        </p:xfrm>
        <a:graphic>
          <a:graphicData uri="http://schemas.openxmlformats.org/drawingml/2006/table">
            <a:tbl>
              <a:tblPr firstRow="0" bandRow="0"/>
              <a:tblGrid>
                <a:gridCol w="411480"/>
                <a:gridCol w="4206240"/>
                <a:gridCol w="4343400"/>
              </a:tblGrid>
              <a:tr h="3017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91440" marR="91440" marT="27432" marB="27432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9525">
                      <a:noFill/>
                    </a:lnB>
                    <a:solidFill>
                      <a:srgbClr val="1B26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Repo public, one-command reproduction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3A"/>
                          </a:solidFill>
                          <a:latin typeface="Arial"/>
                        </a:rPr>
                        <a:t>Done</a:t>
                      </a:r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 · python run_train_pipeline.py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Dataset licensed and citable (DOI)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3A"/>
                          </a:solidFill>
                          <a:latin typeface="Arial"/>
                        </a:rPr>
                        <a:t>Done</a:t>
                      </a:r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 · CC BY-NC 4.0 · DOI 10.57967/hf/10994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Training logs + final checkpoint committed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3A"/>
                          </a:solidFill>
                          <a:latin typeface="Arial"/>
                        </a:rPr>
                        <a:t>Done</a:t>
                      </a:r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 · logs on HF, checkpoints in GitHub releases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Pi 4 latency reproduced by the posted script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3A"/>
                          </a:solidFill>
                          <a:latin typeface="Arial"/>
                        </a:rPr>
                        <a:t>Done</a:t>
                      </a:r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 · run_benchmark.sh, results in benchmark_results/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Held-out test set, unseen speakers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3A"/>
                          </a:solidFill>
                          <a:latin typeface="Arial"/>
                        </a:rPr>
                        <a:t>Done</a:t>
                      </a:r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 · 202-clip ME2 holdout, speaker-disjoint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Baseline of comparable size compared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7A3A"/>
                          </a:solidFill>
                          <a:latin typeface="Arial"/>
                        </a:rPr>
                        <a:t>Done</a:t>
                      </a:r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 · README §3 (published numbers, not re-run)</a:t>
                      </a:r>
                    </a:p>
                  </a:txBody>
                  <a:tcPr anchor="ctr" marL="91440" marR="91440" marT="27432" marB="27432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D5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Page number"/>
          <p:cNvSpPr txBox="1"/>
          <p:nvPr/>
        </p:nvSpPr>
        <p:spPr>
          <a:xfrm>
            <a:off x="8229600" y="6510528"/>
            <a:ext cx="10972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8A8F98"/>
                </a:solidFill>
                <a:latin typeface="Arial"/>
              </a:rPr>
              <a:t>p. 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688</Words>
  <Application>Microsoft Office PowerPoint</Application>
  <PresentationFormat>Custom</PresentationFormat>
  <Paragraphs>124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ME2 — Voice Controlled Smart Device</dc:title>
  <dc:subject>PptxGenJS Presentation</dc:subject>
  <dc:creator>PptxGenJS</dc:creator>
  <cp:lastModifiedBy>King Villasin</cp:lastModifiedBy>
  <cp:revision>25</cp:revision>
  <dcterms:created xsi:type="dcterms:W3CDTF">2026-10-16T19:48:02Z</dcterms:created>
  <dcterms:modified xsi:type="dcterms:W3CDTF">2026-10-17T09:00:35Z</dcterms:modified>
</cp:coreProperties>
</file>